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Montserrat"/>
      <p:regular r:id="rId30"/>
      <p:bold r:id="rId31"/>
      <p:italic r:id="rId32"/>
      <p:boldItalic r:id="rId33"/>
    </p:embeddedFont>
    <p:embeddedFont>
      <p:font typeface="Lat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mateus algayer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bold.fntdata"/><Relationship Id="rId30" Type="http://schemas.openxmlformats.org/officeDocument/2006/relationships/font" Target="fonts/Montserrat-regular.fntdata"/><Relationship Id="rId11" Type="http://schemas.openxmlformats.org/officeDocument/2006/relationships/slide" Target="slides/slide5.xml"/><Relationship Id="rId33" Type="http://schemas.openxmlformats.org/officeDocument/2006/relationships/font" Target="fonts/Montserrat-boldItalic.fntdata"/><Relationship Id="rId10" Type="http://schemas.openxmlformats.org/officeDocument/2006/relationships/slide" Target="slides/slide4.xml"/><Relationship Id="rId32" Type="http://schemas.openxmlformats.org/officeDocument/2006/relationships/font" Target="fonts/Montserrat-italic.fntdata"/><Relationship Id="rId13" Type="http://schemas.openxmlformats.org/officeDocument/2006/relationships/slide" Target="slides/slide7.xml"/><Relationship Id="rId35" Type="http://schemas.openxmlformats.org/officeDocument/2006/relationships/font" Target="fonts/Lato-bold.fntdata"/><Relationship Id="rId12" Type="http://schemas.openxmlformats.org/officeDocument/2006/relationships/slide" Target="slides/slide6.xml"/><Relationship Id="rId34" Type="http://schemas.openxmlformats.org/officeDocument/2006/relationships/font" Target="fonts/Lato-regular.fntdata"/><Relationship Id="rId15" Type="http://schemas.openxmlformats.org/officeDocument/2006/relationships/slide" Target="slides/slide9.xml"/><Relationship Id="rId37" Type="http://schemas.openxmlformats.org/officeDocument/2006/relationships/font" Target="fonts/Lato-boldItalic.fntdata"/><Relationship Id="rId14" Type="http://schemas.openxmlformats.org/officeDocument/2006/relationships/slide" Target="slides/slide8.xml"/><Relationship Id="rId36" Type="http://schemas.openxmlformats.org/officeDocument/2006/relationships/font" Target="fonts/Lato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5-17T20:30:44.311">
    <p:pos x="6000" y="0"/>
    <p:text>Pronto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2bb048649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2bb048649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2bb048649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e2bb048649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2bbf5d5cd_4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2bbf5d5cd_4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2bbf5d5cd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2bbf5d5cd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2bbf5d5cd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e2bbf5d5cd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2bb048649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e2bb048649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2bb048649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e2bb048649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2bbf5d5cd_4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e2bbf5d5cd_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2bbf5d5cd_1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e2bbf5d5cd_1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2bb048649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2bb048649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2bbf5d5cd_1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e2bbf5d5cd_1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2bbf5d5cd_1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e2bbf5d5cd_1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2bbf5d5cd_1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e2bbf5d5cd_1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2bbf5d5cd_1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e2bbf5d5cd_1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2bbf5d5cd_1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e2bbf5d5cd_1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2bbf5d5cd_1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e2bbf5d5cd_1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2bbf5d5cd_1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e2bbf5d5cd_1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2bbf5d5cd_1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e2bbf5d5cd_1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2bbf5d5cd_1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e2bbf5d5cd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2bbf5d5cd_1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e2bbf5d5cd_1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2bbf5d5cd_1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e2bbf5d5cd_1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2bbf5d5cd_1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e2bbf5d5cd_1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Prompt Engineering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Prompt Engineering</a:t>
            </a:r>
            <a:endParaRPr/>
          </a:p>
        </p:txBody>
      </p:sp>
      <p:sp>
        <p:nvSpPr>
          <p:cNvPr id="140" name="Google Shape;140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Tópicos abordados no capítulo: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pt-BR"/>
              <a:t>Introdução à engenharia de prompt e contexto.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BR"/>
              <a:t>Melhores práticas de construção para prompts.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BR"/>
              <a:t>Prompts defensivos e técnicas de defesa.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 a engenharia prompt</a:t>
            </a:r>
            <a:endParaRPr/>
          </a:p>
        </p:txBody>
      </p:sp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engenharia de prompt?</a:t>
            </a:r>
            <a:br>
              <a:rPr lang="pt-BR"/>
            </a:br>
            <a:br>
              <a:rPr lang="pt-BR"/>
            </a:br>
            <a:r>
              <a:rPr lang="pt-BR"/>
              <a:t>"O processo de montagem de instruções que permitem a um modelo gerar o resultado esperado."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"... guia o comportamento do modelo sem a necessidade de alterar os pesos do modelo."</a:t>
            </a:r>
            <a:br>
              <a:rPr lang="pt-BR"/>
            </a:br>
            <a:br>
              <a:rPr lang="pt-BR"/>
            </a:br>
            <a:r>
              <a:rPr lang="pt-BR"/>
              <a:t>"... é uma forma de comunicação Humano para IA."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 ao prompt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O que é um prompt?</a:t>
            </a:r>
            <a:br>
              <a:rPr lang="pt-BR"/>
            </a:br>
            <a:br>
              <a:rPr lang="pt-BR"/>
            </a:br>
            <a:r>
              <a:rPr lang="pt-BR"/>
              <a:t>"Uma instrução dada a um modelo para realizar uma tarefa"</a:t>
            </a:r>
            <a:br>
              <a:rPr lang="pt-BR"/>
            </a:br>
            <a:br>
              <a:rPr lang="pt-BR"/>
            </a:br>
            <a:r>
              <a:rPr lang="pt-BR"/>
              <a:t>Consiste de uma estrutura composta de "descrição da tarefa", "exemplos" e "Tarefa"</a:t>
            </a:r>
            <a:br>
              <a:rPr lang="pt-BR"/>
            </a:br>
            <a:br>
              <a:rPr lang="pt-BR"/>
            </a:br>
            <a:r>
              <a:rPr lang="pt-BR"/>
              <a:t>IMPORTANTE: Prompts apenas funcionam se o modelo ser capaz de seguir instruções.</a:t>
            </a:r>
            <a:br>
              <a:rPr lang="pt-BR"/>
            </a:br>
            <a:br>
              <a:rPr lang="pt-BR"/>
            </a:br>
            <a:r>
              <a:rPr lang="pt-BR"/>
              <a:t>A robustez de um modelo para com prompts é definida pelo nível de perturbação medido ao se realizar algumas alterações no prompt. Ex: trocar "5" por "cinco" ou "Cinco"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Estrutura de um prompt</a:t>
            </a:r>
            <a:endParaRPr/>
          </a:p>
        </p:txBody>
      </p:sp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Descrição da tarefa:</a:t>
            </a:r>
            <a:br>
              <a:rPr lang="pt-BR"/>
            </a:br>
            <a:r>
              <a:rPr lang="pt-BR"/>
              <a:t>O que o modelo deve fazer, incluindo a Persona do modelo e o formato de saída.</a:t>
            </a:r>
            <a:br>
              <a:rPr lang="pt-BR"/>
            </a:br>
            <a:br>
              <a:rPr lang="pt-BR"/>
            </a:br>
            <a:r>
              <a:rPr lang="pt-BR"/>
              <a:t>Exemplos:</a:t>
            </a:r>
            <a:br>
              <a:rPr lang="pt-BR"/>
            </a:br>
            <a:r>
              <a:rPr lang="pt-BR"/>
              <a:t>Exemplos de entrada e suas respectivas saídas.</a:t>
            </a:r>
            <a:br>
              <a:rPr lang="pt-BR"/>
            </a:br>
            <a:br>
              <a:rPr lang="pt-BR"/>
            </a:br>
            <a:r>
              <a:rPr lang="pt-BR"/>
              <a:t>A tarefa:</a:t>
            </a:r>
            <a:br>
              <a:rPr lang="pt-BR"/>
            </a:br>
            <a:r>
              <a:rPr lang="pt-BR"/>
              <a:t>A tarefa concreta, a pergunta a ser respondida.</a:t>
            </a:r>
            <a:br>
              <a:rPr lang="pt-BR"/>
            </a:b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Prompt de sistema e prompt de usuário</a:t>
            </a:r>
            <a:endParaRPr/>
          </a:p>
        </p:txBody>
      </p:sp>
      <p:sp>
        <p:nvSpPr>
          <p:cNvPr id="164" name="Google Shape;164;p18"/>
          <p:cNvSpPr txBox="1"/>
          <p:nvPr>
            <p:ph idx="1" type="body"/>
          </p:nvPr>
        </p:nvSpPr>
        <p:spPr>
          <a:xfrm>
            <a:off x="1297500" y="1567550"/>
            <a:ext cx="7038900" cy="31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Prompt de sistema: Instruções providas por desenvolvedores de aplicação, contém instruções da descrição da tarefa e exemplos.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Prompt de usuário: Instruções providas por usuários, contém as instruções da tarefa.</a:t>
            </a:r>
            <a:br>
              <a:rPr lang="pt-BR"/>
            </a:br>
            <a:br>
              <a:rPr lang="pt-BR"/>
            </a:br>
            <a:r>
              <a:rPr lang="pt-BR"/>
              <a:t>"Muitos provedores de modelo dão ênfase no fato de que prompts de sistema bem construídos melhoram performance… mas como que isso ocorre visto que os prompts de sistema e usuário são concatenados em uma única mensagem?"</a:t>
            </a:r>
            <a:br>
              <a:rPr lang="pt-BR"/>
            </a:br>
            <a:br>
              <a:rPr lang="pt-BR"/>
            </a:br>
            <a:r>
              <a:rPr lang="pt-BR"/>
              <a:t>"Ou modelos são melhores para processar as instruções no início, ou foram pós-treinados para dar mais ênfase ao prompt de sistema"</a:t>
            </a:r>
            <a:br>
              <a:rPr lang="pt-BR"/>
            </a:br>
            <a:br>
              <a:rPr lang="pt-BR"/>
            </a:br>
            <a:r>
              <a:rPr lang="pt-BR"/>
              <a:t>IMPORTANTE: Diferentes modelos possuem templates de chat diferentes, verifique o template correto para o modelo que você está utilizando.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Contexto vs prompt</a:t>
            </a:r>
            <a:endParaRPr/>
          </a:p>
        </p:txBody>
      </p:sp>
      <p:sp>
        <p:nvSpPr>
          <p:cNvPr id="170" name="Google Shape;170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Normalmente, contexto e prompt são sinônimos.</a:t>
            </a:r>
            <a:br>
              <a:rPr lang="pt-BR"/>
            </a:br>
            <a:br>
              <a:rPr lang="pt-BR"/>
            </a:br>
            <a:r>
              <a:rPr lang="pt-BR"/>
              <a:t>Contexto pode ser entendido como toda a entrada do sistema, neste caso, podemos considerar contexto como o prompt.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Contexto também pode ser entendido como informação contextual, nesse sentido o contexto é uma parte do prompt que contém a informação necessária para resolver a tarefa.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In-context Learning</a:t>
            </a:r>
            <a:endParaRPr/>
          </a:p>
        </p:txBody>
      </p:sp>
      <p:sp>
        <p:nvSpPr>
          <p:cNvPr id="176" name="Google Shape;176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Ensinar o modelo como realizar uma tarefa através de prompts.</a:t>
            </a:r>
            <a:br>
              <a:rPr lang="pt-BR"/>
            </a:br>
            <a:br>
              <a:rPr lang="pt-BR"/>
            </a:br>
            <a:r>
              <a:rPr lang="pt-BR"/>
              <a:t>"In-context learning permite que o modelo incorpore novas informações continuamente para tomar decisões"</a:t>
            </a:r>
            <a:br>
              <a:rPr lang="pt-BR"/>
            </a:br>
            <a:br>
              <a:rPr lang="pt-BR"/>
            </a:br>
            <a:r>
              <a:rPr lang="pt-BR"/>
              <a:t>Pode ser </a:t>
            </a:r>
            <a:r>
              <a:rPr i="1" lang="pt-BR"/>
              <a:t>Zero-shot </a:t>
            </a:r>
            <a:r>
              <a:rPr lang="pt-BR"/>
              <a:t>ou </a:t>
            </a:r>
            <a:r>
              <a:rPr i="1" lang="pt-BR"/>
              <a:t>Few-shot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Tamanho de contexto</a:t>
            </a:r>
            <a:endParaRPr/>
          </a:p>
        </p:txBody>
      </p:sp>
      <p:sp>
        <p:nvSpPr>
          <p:cNvPr id="182" name="Google Shape;182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O tamanho do contexto representa quanta informação pode ser adicionada no prompt.</a:t>
            </a:r>
            <a:br>
              <a:rPr lang="pt-BR"/>
            </a:br>
            <a:br>
              <a:rPr lang="pt-BR"/>
            </a:br>
            <a:r>
              <a:rPr lang="pt-BR"/>
              <a:t>Contexto MAIOR -&gt; maior limite de resposta e maior limite para contexto.</a:t>
            </a:r>
            <a:br>
              <a:rPr lang="pt-BR"/>
            </a:br>
            <a:br>
              <a:rPr lang="pt-BR"/>
            </a:br>
            <a:r>
              <a:rPr lang="pt-BR"/>
              <a:t>O tamanho do contexto aumentou significativamente nos últimos anos.</a:t>
            </a:r>
            <a:br>
              <a:rPr lang="pt-BR"/>
            </a:br>
            <a:br>
              <a:rPr lang="pt-BR"/>
            </a:br>
            <a:r>
              <a:rPr lang="pt-BR"/>
              <a:t>"Pesquisas mostram que modelos são melhores no entendimento de instruções no início e no fim de um prompt"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Tamanho de contexto</a:t>
            </a:r>
            <a:endParaRPr/>
          </a:p>
        </p:txBody>
      </p:sp>
      <p:sp>
        <p:nvSpPr>
          <p:cNvPr id="188" name="Google Shape;188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O tamanho do contexto representa quanta informação pode ser adicionada no prompt.</a:t>
            </a:r>
            <a:br>
              <a:rPr lang="pt-BR"/>
            </a:br>
            <a:br>
              <a:rPr lang="pt-BR"/>
            </a:br>
            <a:r>
              <a:rPr lang="pt-BR"/>
              <a:t>Contexto MAIOR -&gt; maior limite de resposta e maior limite para contexto.</a:t>
            </a:r>
            <a:br>
              <a:rPr lang="pt-BR"/>
            </a:br>
            <a:br>
              <a:rPr lang="pt-BR"/>
            </a:br>
            <a:r>
              <a:rPr lang="pt-BR"/>
              <a:t>O tamanho do contexto aumentou significativamente nos últimos anos.</a:t>
            </a:r>
            <a:br>
              <a:rPr lang="pt-BR"/>
            </a:br>
            <a:br>
              <a:rPr lang="pt-BR"/>
            </a:br>
            <a:r>
              <a:rPr lang="pt-BR"/>
              <a:t>"Pesquisas mostram que modelos são melhores no entendimento de instruções no início e no fim de um prompt"</a:t>
            </a:r>
            <a:br>
              <a:rPr lang="pt-BR"/>
            </a:br>
            <a:br>
              <a:rPr lang="pt-BR"/>
            </a:br>
            <a:r>
              <a:rPr lang="pt-BR"/>
              <a:t>"Se um contexto maior causa perda de performance, tente reduzir o seu prompt"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Melhores práticas de prompting</a:t>
            </a:r>
            <a:endParaRPr/>
          </a:p>
        </p:txBody>
      </p:sp>
      <p:sp>
        <p:nvSpPr>
          <p:cNvPr id="194" name="Google Shape;194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BR"/>
              <a:t>Escreva instruções explícitas e </a:t>
            </a:r>
            <a:r>
              <a:rPr lang="pt-BR"/>
              <a:t>concisas</a:t>
            </a:r>
            <a:r>
              <a:rPr lang="pt-BR"/>
              <a:t>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BR"/>
              <a:t>Inclua contexto suficiente.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BR"/>
              <a:t>Quebre tarefas complexas em subtarefas.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BR"/>
              <a:t>Dê tempo para o modelo pensar (CoT).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BR"/>
              <a:t>Iterar seus prompts.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BR"/>
              <a:t>Avalie seus prompts com ferramentas.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BR"/>
              <a:t>Organize e versione prompts.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As técnicas acima são técnicas gerais que funcionam para vários modelos e vão continuar relevantes.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Escreva instruções explícitas e concisas</a:t>
            </a:r>
            <a:endParaRPr/>
          </a:p>
        </p:txBody>
      </p:sp>
      <p:sp>
        <p:nvSpPr>
          <p:cNvPr id="200" name="Google Shape;200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BR"/>
              <a:t>Explique sem ambiguidade o que você quer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BR"/>
              <a:t>Se deseja utilizar um sistema de </a:t>
            </a:r>
            <a:r>
              <a:rPr i="1" lang="pt-BR"/>
              <a:t>Score</a:t>
            </a:r>
            <a:r>
              <a:rPr lang="pt-BR"/>
              <a:t>, explique como o cálculo deve funcionar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BR"/>
              <a:t>Utilize personas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BR"/>
              <a:t>Explique a perspectiva pela qual a IA deve visualizar a tarefa.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BR"/>
              <a:t>Dê exemplos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Dicas:</a:t>
            </a:r>
            <a:br>
              <a:rPr lang="pt-BR"/>
            </a:br>
            <a:r>
              <a:rPr lang="pt-BR"/>
              <a:t>Melhore seus prompts conforme percebe comportamentos indesejados.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Se desejar uma resposta concisa, diga isso ao modelo.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Para tarefas esperando saídas estruturadas utilize marcadores para delimitar onde a saída se inicia.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Inclua contexto suficiente</a:t>
            </a:r>
            <a:endParaRPr/>
          </a:p>
        </p:txBody>
      </p:sp>
      <p:sp>
        <p:nvSpPr>
          <p:cNvPr id="206" name="Google Shape;206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Ter a informação necessária para resolver um problema melhora a performance do modelo e auxilia na redução de </a:t>
            </a:r>
            <a:r>
              <a:rPr lang="pt-BR"/>
              <a:t>alucinações.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"Se um modelo deve responder a um artigo, incluir o artigo no contexto pode melhorar consideravelmente a performance, …, caso o modelo não receba o contexto necessário ele pode acabar utilizando apenas o seu conhecimento interno, o que pode causar mais alucinações"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O processo de coleta do contexto necessário é chamado de construção de contexto.</a:t>
            </a:r>
            <a:br>
              <a:rPr lang="pt-BR"/>
            </a:br>
            <a:br>
              <a:rPr lang="pt-BR"/>
            </a:br>
            <a:r>
              <a:rPr lang="pt-BR"/>
              <a:t>Ferramentas para construção de contexto são discutidas no Capítulo 6.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Quebre tarefas complexas em subtarefas</a:t>
            </a:r>
            <a:endParaRPr/>
          </a:p>
        </p:txBody>
      </p:sp>
      <p:sp>
        <p:nvSpPr>
          <p:cNvPr id="212" name="Google Shape;212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BR"/>
              <a:t>Separar um grande prompt com várias etapas em vários prompts.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BR"/>
              <a:t>Modelos ainda são melhores em entender instruções simples.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BR"/>
              <a:t>Vantagens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BR"/>
              <a:t>Performance melhor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BR"/>
              <a:t>Monitoração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BR"/>
              <a:t>Debug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BR"/>
              <a:t>Paralelização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BR"/>
              <a:t>Esforço menor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BR"/>
              <a:t>Desvantagens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BR"/>
              <a:t>Latência maior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BR"/>
              <a:t>Complexidade maior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Dê tempo para o modelo pensar</a:t>
            </a:r>
            <a:endParaRPr/>
          </a:p>
        </p:txBody>
      </p:sp>
      <p:sp>
        <p:nvSpPr>
          <p:cNvPr id="218" name="Google Shape;218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/>
              <a:t>Chain-of-thought</a:t>
            </a:r>
            <a:r>
              <a:rPr lang="pt-BR"/>
              <a:t>:</a:t>
            </a:r>
            <a:br>
              <a:rPr lang="pt-BR"/>
            </a:br>
            <a:r>
              <a:rPr lang="pt-BR"/>
              <a:t>Exija um pensamento passo a passo ou motivo da decisão, isso faz com que o modelo pense mais profundamente sobre o problema.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pt-BR"/>
              <a:t>Self-critique</a:t>
            </a:r>
            <a:r>
              <a:rPr lang="pt-BR"/>
              <a:t>:</a:t>
            </a:r>
            <a:br>
              <a:rPr lang="pt-BR"/>
            </a:br>
            <a:r>
              <a:rPr lang="pt-BR"/>
              <a:t>Exija que o modelo valide sua saída, também chamado de </a:t>
            </a:r>
            <a:r>
              <a:rPr i="1" lang="pt-BR"/>
              <a:t>self-eval</a:t>
            </a:r>
            <a:r>
              <a:rPr lang="pt-BR"/>
              <a:t>, faz o modelo pensar criticamente sobre o problema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Iterar seus prompts</a:t>
            </a:r>
            <a:endParaRPr/>
          </a:p>
        </p:txBody>
      </p:sp>
      <p:sp>
        <p:nvSpPr>
          <p:cNvPr id="224" name="Google Shape;224;p2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BR"/>
              <a:t>Revise seus prompts conforme avalia os resultados gerados.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BR"/>
              <a:t>Prompts diferentes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BR"/>
              <a:t>Modelos diferentes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BR"/>
              <a:t>Organize diferente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BR"/>
              <a:t>Estabeleça métricas padrões para comparar performance.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BR"/>
              <a:t>"Prompts devem ser avaliados em perspectiva de sistema, um prompt pode melhorar a performance de uma tarefa, mas piorar a performance do sistema."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Avalie ferramentas de engenharia de prompt</a:t>
            </a:r>
            <a:endParaRPr/>
          </a:p>
        </p:txBody>
      </p:sp>
      <p:sp>
        <p:nvSpPr>
          <p:cNvPr id="230" name="Google Shape;230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Ferramentas que buscam otimizar prompts, buscam os prompts mais performáticos para realizar uma determinada tarefa a partir da especificação da entrada + saída que melhor se </a:t>
            </a:r>
            <a:r>
              <a:rPr lang="pt-BR"/>
              <a:t>adequa</a:t>
            </a:r>
            <a:r>
              <a:rPr lang="pt-BR"/>
              <a:t> a um determinado dataset de avaliação (Ex: OpenPrompt e DSPy).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Outra forma de criar e otimizar prompts é utilizar o próprio modelo, solicitando que ele crie, otimize ou critique seu prompt.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Deepmind Promptbreeder: Cria prompts através de um processo evolucionário.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IMPORTANTE: </a:t>
            </a:r>
            <a:br>
              <a:rPr lang="pt-BR"/>
            </a:br>
            <a:r>
              <a:rPr lang="pt-BR"/>
              <a:t>Cuidado com custos utilizando IA para melhorar prompts. </a:t>
            </a:r>
            <a:br>
              <a:rPr lang="pt-BR"/>
            </a:br>
            <a:r>
              <a:rPr lang="pt-BR"/>
              <a:t>Mantenha os prompts simples até que por necessidade eles exijam maior complexidade.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Organize e versione prompts</a:t>
            </a:r>
            <a:endParaRPr/>
          </a:p>
        </p:txBody>
      </p:sp>
      <p:sp>
        <p:nvSpPr>
          <p:cNvPr id="236" name="Google Shape;236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BR"/>
              <a:t>Separe prompts do código da aplicação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BR"/>
              <a:t>Reusabilidade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BR"/>
              <a:t>Testabilidade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BR"/>
              <a:t>Colaboração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BR"/>
              <a:t>Versione seus prompts e use metadados para especificar o uso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BR"/>
              <a:t>Utilizar ferramentas como git para controle de versão e catálogo de prompts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Engenharia de prompt defensivo</a:t>
            </a:r>
            <a:endParaRPr/>
          </a:p>
        </p:txBody>
      </p:sp>
      <p:sp>
        <p:nvSpPr>
          <p:cNvPr id="242" name="Google Shape;242;p3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Principais ataques de prompt: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i="1" lang="pt-BR"/>
              <a:t>Prompt Extraction</a:t>
            </a:r>
            <a:endParaRPr i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i="1" lang="pt-BR"/>
              <a:t>Jailbreaking</a:t>
            </a:r>
            <a:endParaRPr i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i="1" lang="pt-BR"/>
              <a:t>Information extraction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Riscos de ataques de prompt: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i="1" lang="pt-BR"/>
              <a:t>Remote code or tool execution</a:t>
            </a:r>
            <a:endParaRPr i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i="1" lang="pt-BR"/>
              <a:t>Data leaks</a:t>
            </a:r>
            <a:endParaRPr i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i="1" lang="pt-BR"/>
              <a:t>Misinformation</a:t>
            </a:r>
            <a:endParaRPr i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i="1" lang="pt-BR"/>
              <a:t>Service interruption</a:t>
            </a:r>
            <a:endParaRPr i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i="1" lang="pt-BR"/>
              <a:t>Brand risk </a:t>
            </a:r>
            <a:endParaRPr i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Engenharia reversa de prompts</a:t>
            </a:r>
            <a:endParaRPr/>
          </a:p>
        </p:txBody>
      </p:sp>
      <p:sp>
        <p:nvSpPr>
          <p:cNvPr id="248" name="Google Shape;248;p3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dificuldade para criar um prompt torna este um recurso valioso.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Engenharia reversa de prompt é o processo de descobrir o prompt de sistema da aplicação, com o intuito de revender ou manipular de maneira indevida.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Consiste em analisar a saída do modelo ou enganar o modelo para que ele revele seu prompt de sistema.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/>
              <a:t>Jailbreaking</a:t>
            </a:r>
            <a:r>
              <a:rPr lang="pt-BR"/>
              <a:t> e </a:t>
            </a:r>
            <a:r>
              <a:rPr i="1" lang="pt-BR"/>
              <a:t>Prompt Injection</a:t>
            </a:r>
            <a:endParaRPr i="1"/>
          </a:p>
        </p:txBody>
      </p:sp>
      <p:sp>
        <p:nvSpPr>
          <p:cNvPr id="254" name="Google Shape;254;p3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"</a:t>
            </a:r>
            <a:r>
              <a:rPr i="1" lang="pt-BR"/>
              <a:t>Jailbreaking </a:t>
            </a:r>
            <a:r>
              <a:rPr lang="pt-BR"/>
              <a:t>consiste em burlar funcionalidades de segurança do modelo."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"</a:t>
            </a:r>
            <a:r>
              <a:rPr i="1" lang="pt-BR"/>
              <a:t>Prompt Injection</a:t>
            </a:r>
            <a:r>
              <a:rPr lang="pt-BR"/>
              <a:t> refere-se a um tipo de ataque onde instruções maliciosas são injetadas no prompt"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Formas de ataque: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i="1" lang="pt-BR"/>
              <a:t>Direct manual prompt hacking</a:t>
            </a:r>
            <a:endParaRPr i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i="1" lang="pt-BR"/>
              <a:t>Automated attacks</a:t>
            </a:r>
            <a:endParaRPr i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i="1" lang="pt-BR"/>
              <a:t>Indirect prompt injection</a:t>
            </a:r>
            <a:endParaRPr i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Information Extraction</a:t>
            </a:r>
            <a:endParaRPr/>
          </a:p>
        </p:txBody>
      </p:sp>
      <p:sp>
        <p:nvSpPr>
          <p:cNvPr id="260" name="Google Shape;260;p3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/>
              <a:t>Information Extraction</a:t>
            </a:r>
            <a:r>
              <a:rPr lang="pt-BR"/>
              <a:t> busca descobrir as informações que o modelo foi treinado ou o seu acesso à informação, exemplos de extração: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i="1" lang="pt-BR"/>
              <a:t>Data leak</a:t>
            </a:r>
            <a:endParaRPr i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i="1" lang="pt-BR"/>
              <a:t>Privacy violation</a:t>
            </a:r>
            <a:endParaRPr i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i="1" lang="pt-BR"/>
              <a:t>Copyright infringement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O modelo "</a:t>
            </a:r>
            <a:r>
              <a:rPr i="1" lang="pt-BR"/>
              <a:t>memoriza"</a:t>
            </a:r>
            <a:r>
              <a:rPr lang="pt-BR"/>
              <a:t> algumas informações.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"As mesmas técnicas utilizadas para avaliar o conhecimento de um modelo podem ser utilizadas para extrair informações sensíveis"</a:t>
            </a:r>
            <a:br>
              <a:rPr lang="pt-BR"/>
            </a:b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Defesas contra ataques de prompts</a:t>
            </a:r>
            <a:endParaRPr/>
          </a:p>
        </p:txBody>
      </p:sp>
      <p:sp>
        <p:nvSpPr>
          <p:cNvPr id="266" name="Google Shape;266;p3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BR"/>
              <a:t>Comece entendendo os tipos de ataque que sua aplicação pode receber.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BR"/>
              <a:t>Avaliar com base em </a:t>
            </a:r>
            <a:r>
              <a:rPr i="1" lang="pt-BR"/>
              <a:t>violation rate </a:t>
            </a:r>
            <a:r>
              <a:rPr lang="pt-BR"/>
              <a:t>e </a:t>
            </a:r>
            <a:r>
              <a:rPr i="1" lang="pt-BR"/>
              <a:t>false refusal rate</a:t>
            </a:r>
            <a:r>
              <a:rPr lang="pt-BR"/>
              <a:t>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i="1" lang="pt-BR"/>
              <a:t>Model-level defense.</a:t>
            </a:r>
            <a:endParaRPr i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i="1" lang="pt-BR"/>
              <a:t>Prompt-level defense.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BR"/>
              <a:t>Duplicação.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BR"/>
              <a:t>Ignorar modos de ataque conhecidos.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i="1" lang="pt-BR"/>
              <a:t>System-level defense.</a:t>
            </a:r>
            <a:endParaRPr i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BR"/>
              <a:t>Utilizar contexto isolado.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BR"/>
              <a:t>Exigir autorização para comandos de alto impacto.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BR"/>
              <a:t>Definir Assuntos fora de tópico.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BR"/>
              <a:t>Utilizar IA para avaliação de intenção.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i="1" lang="pt-BR"/>
              <a:t>Guardrails</a:t>
            </a:r>
            <a:r>
              <a:rPr lang="pt-BR"/>
              <a:t> na entrada e na saída.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