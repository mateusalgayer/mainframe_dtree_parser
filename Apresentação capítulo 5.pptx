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comments+xml" PartName="/ppt/comments/comment1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commentAuthors+xml" PartName="/ppt/commentAuthors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y="5143500" cx="9144000"/>
  <p:notesSz cx="6858000" cy="9144000"/>
  <p:embeddedFontLst>
    <p:embeddedFont>
      <p:font typeface="Montserrat"/>
      <p:regular r:id="rId29"/>
      <p:bold r:id="rId30"/>
      <p:italic r:id="rId31"/>
      <p:boldItalic r:id="rId32"/>
    </p:embeddedFont>
    <p:embeddedFont>
      <p:font typeface="Lato"/>
      <p:regular r:id="rId33"/>
      <p:bold r:id="rId34"/>
      <p:italic r:id="rId35"/>
      <p:boldItalic r:id="rId3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Author clrIdx="0" id="0" initials="" lastIdx="1" name="mateus algayer"/>
</p:cmAuthorLst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commentAuthors" Target="commentAuthors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font" Target="fonts/Montserrat-regular.fntdata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font" Target="fonts/Montserrat-italic.fntdata"/><Relationship Id="rId30" Type="http://schemas.openxmlformats.org/officeDocument/2006/relationships/font" Target="fonts/Montserrat-bold.fntdata"/><Relationship Id="rId11" Type="http://schemas.openxmlformats.org/officeDocument/2006/relationships/slide" Target="slides/slide5.xml"/><Relationship Id="rId33" Type="http://schemas.openxmlformats.org/officeDocument/2006/relationships/font" Target="fonts/Lato-regular.fntdata"/><Relationship Id="rId10" Type="http://schemas.openxmlformats.org/officeDocument/2006/relationships/slide" Target="slides/slide4.xml"/><Relationship Id="rId32" Type="http://schemas.openxmlformats.org/officeDocument/2006/relationships/font" Target="fonts/Montserrat-boldItalic.fntdata"/><Relationship Id="rId13" Type="http://schemas.openxmlformats.org/officeDocument/2006/relationships/slide" Target="slides/slide7.xml"/><Relationship Id="rId35" Type="http://schemas.openxmlformats.org/officeDocument/2006/relationships/font" Target="fonts/Lato-italic.fntdata"/><Relationship Id="rId12" Type="http://schemas.openxmlformats.org/officeDocument/2006/relationships/slide" Target="slides/slide6.xml"/><Relationship Id="rId34" Type="http://schemas.openxmlformats.org/officeDocument/2006/relationships/font" Target="fonts/Lato-bold.fntdata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font" Target="fonts/Lato-boldItalic.fntdata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comments/comment1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1" dt="2026-05-17T20:30:44.311">
    <p:pos x="6000" y="0"/>
    <p:text>Pronto</p:text>
  </p:cm>
</p:cmLst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e2bb048649_0_1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3e2bb048649_0_1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e2bb048649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3e2bb048649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e2bbf5d5cd_4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3e2bbf5d5cd_4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e2bbf5d5cd_4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g3e2bbf5d5cd_4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e2bbf5d5cd_1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3e2bbf5d5cd_1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3e2bb048649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" name="Google Shape;167;g3e2bb048649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e2bb048649_0_1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3e2bb048649_0_1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3e2bbf5d5cd_1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3e2bbf5d5cd_1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e2bb048649_0_1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" name="Google Shape;185;g3e2bb048649_0_1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3e2bbf5d5cd_1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g3e2bbf5d5cd_1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3e2bbf5d5cd_1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" name="Google Shape;197;g3e2bbf5d5cd_1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g3e2bbf5d5cd_1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3" name="Google Shape;203;g3e2bbf5d5cd_1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3e2bbf5d5cd_1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3e2bbf5d5cd_1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g3e2bbf5d5cd_1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5" name="Google Shape;215;g3e2bbf5d5cd_1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3e2bbf5d5cd_1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1" name="Google Shape;221;g3e2bbf5d5cd_1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e2bbf5d5cd_1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" name="Google Shape;227;g3e2bbf5d5cd_1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3e2bbf5d5cd_1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3" name="Google Shape;233;g3e2bbf5d5cd_1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3e2bbf5d5cd_1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9" name="Google Shape;239;g3e2bbf5d5cd_1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3e2bbf5d5cd_11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5" name="Google Shape;245;g3e2bbf5d5cd_11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e2bbf5d5cd_11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3e2bbf5d5cd_11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e2bbf5d5cd_11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" name="Google Shape;257;g3e2bbf5d5cd_11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 rot="5400000">
            <a:off x="7500300" y="505"/>
            <a:ext cx="1643700" cy="1643700"/>
          </a:xfrm>
          <a:prstGeom prst="diagStripe">
            <a:avLst>
              <a:gd fmla="val 0" name="adj"/>
            </a:avLst>
          </a:prstGeom>
          <a:solidFill>
            <a:schemeClr val="lt1">
              <a:alpha val="3030"/>
            </a:scheme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0" y="490"/>
            <a:ext cx="5153705" cy="5134399"/>
            <a:chOff x="0" y="75"/>
            <a:chExt cx="5153705" cy="515295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455" y="-225"/>
              <a:ext cx="5152800" cy="51537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150" y="1145825"/>
              <a:ext cx="3996600" cy="3996900"/>
            </a:xfrm>
            <a:prstGeom prst="diagStripe">
              <a:avLst>
                <a:gd fmla="val 58774" name="adj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 rot="-5400000">
              <a:off x="1646" y="-75"/>
              <a:ext cx="2299800" cy="23001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 flipH="1">
              <a:off x="652821" y="590035"/>
              <a:ext cx="2300100" cy="2299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6" name="Google Shape;16;p2"/>
          <p:cNvSpPr txBox="1"/>
          <p:nvPr>
            <p:ph type="ctrTitle"/>
          </p:nvPr>
        </p:nvSpPr>
        <p:spPr>
          <a:xfrm>
            <a:off x="3537150" y="1578400"/>
            <a:ext cx="5017500" cy="15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/>
        </p:txBody>
      </p:sp>
      <p:sp>
        <p:nvSpPr>
          <p:cNvPr id="17" name="Google Shape;17;p2"/>
          <p:cNvSpPr txBox="1"/>
          <p:nvPr>
            <p:ph idx="1" type="subTitle"/>
          </p:nvPr>
        </p:nvSpPr>
        <p:spPr>
          <a:xfrm>
            <a:off x="5083950" y="3924925"/>
            <a:ext cx="34707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  <p:sp>
        <p:nvSpPr>
          <p:cNvPr id="18" name="Google Shape;18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oogle Shape;20;p3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21" name="Google Shape;21;p3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" name="Google Shape;22;p3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" name="Google Shape;23;p3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" name="Google Shape;24;p3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" name="Google Shape;26;p3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" name="Google Shape;27;p3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3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3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" name="Google Shape;30;p3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" name="Google Shape;31;p3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" name="Google Shape;32;p3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" name="Google Shape;33;p3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" name="Google Shape;34;p3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" name="Google Shape;35;p3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" name="Google Shape;36;p3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" name="Google Shape;37;p3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" name="Google Shape;38;p3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9" name="Google Shape;39;p3"/>
          <p:cNvSpPr txBox="1"/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0" name="Google Shape;40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oogle Shape;42;p4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43" name="Google Shape;43;p4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4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5" name="Google Shape;45;p4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6" name="Google Shape;46;p4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47" name="Google Shape;47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oogle Shape;49;p5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0" name="Google Shape;50;p5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" name="Google Shape;51;p5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2" name="Google Shape;52;p5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53" name="Google Shape;53;p5"/>
          <p:cNvSpPr txBox="1"/>
          <p:nvPr>
            <p:ph idx="1" type="body"/>
          </p:nvPr>
        </p:nvSpPr>
        <p:spPr>
          <a:xfrm>
            <a:off x="1297500" y="1567550"/>
            <a:ext cx="34032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4" name="Google Shape;54;p5"/>
          <p:cNvSpPr txBox="1"/>
          <p:nvPr>
            <p:ph idx="2" type="body"/>
          </p:nvPr>
        </p:nvSpPr>
        <p:spPr>
          <a:xfrm>
            <a:off x="4933221" y="1567550"/>
            <a:ext cx="34032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5" name="Google Shape;55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oogle Shape;57;p6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8" name="Google Shape;58;p6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" name="Google Shape;59;p6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0" name="Google Shape;60;p6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1" name="Google Shape;61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oogle Shape;63;p7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64" name="Google Shape;64;p7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" name="Google Shape;65;p7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6" name="Google Shape;66;p7"/>
          <p:cNvSpPr txBox="1"/>
          <p:nvPr>
            <p:ph type="title"/>
          </p:nvPr>
        </p:nvSpPr>
        <p:spPr>
          <a:xfrm>
            <a:off x="1297500" y="393750"/>
            <a:ext cx="3798900" cy="149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7" name="Google Shape;67;p7"/>
          <p:cNvSpPr txBox="1"/>
          <p:nvPr>
            <p:ph idx="1" type="body"/>
          </p:nvPr>
        </p:nvSpPr>
        <p:spPr>
          <a:xfrm>
            <a:off x="1297500" y="1972550"/>
            <a:ext cx="3798900" cy="241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8" name="Google Shape;68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oogle Shape;70;p8"/>
          <p:cNvGrpSpPr/>
          <p:nvPr/>
        </p:nvGrpSpPr>
        <p:grpSpPr>
          <a:xfrm>
            <a:off x="4406400" y="0"/>
            <a:ext cx="4737600" cy="5143500"/>
            <a:chOff x="4406400" y="0"/>
            <a:chExt cx="4737600" cy="5143500"/>
          </a:xfrm>
        </p:grpSpPr>
        <p:sp>
          <p:nvSpPr>
            <p:cNvPr id="71" name="Google Shape;71;p8"/>
            <p:cNvSpPr/>
            <p:nvPr/>
          </p:nvSpPr>
          <p:spPr>
            <a:xfrm rot="5400000">
              <a:off x="4407900" y="-1500"/>
              <a:ext cx="47346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" name="Google Shape;72;p8"/>
            <p:cNvSpPr/>
            <p:nvPr/>
          </p:nvSpPr>
          <p:spPr>
            <a:xfrm rot="5400000">
              <a:off x="4840825" y="6000"/>
              <a:ext cx="42987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" name="Google Shape;73;p8"/>
            <p:cNvSpPr/>
            <p:nvPr/>
          </p:nvSpPr>
          <p:spPr>
            <a:xfrm rot="-5400000">
              <a:off x="5618399" y="123664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" name="Google Shape;74;p8"/>
            <p:cNvSpPr/>
            <p:nvPr/>
          </p:nvSpPr>
          <p:spPr>
            <a:xfrm flipH="1">
              <a:off x="5849857" y="144407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" name="Google Shape;75;p8"/>
            <p:cNvSpPr/>
            <p:nvPr/>
          </p:nvSpPr>
          <p:spPr>
            <a:xfrm rot="-5400000">
              <a:off x="5987081" y="246974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" name="Google Shape;76;p8"/>
            <p:cNvSpPr/>
            <p:nvPr/>
          </p:nvSpPr>
          <p:spPr>
            <a:xfrm flipH="1">
              <a:off x="6222115" y="267717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" name="Google Shape;77;p8"/>
            <p:cNvSpPr/>
            <p:nvPr/>
          </p:nvSpPr>
          <p:spPr>
            <a:xfrm rot="-5400000">
              <a:off x="6675341" y="186224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" name="Google Shape;78;p8"/>
            <p:cNvSpPr/>
            <p:nvPr/>
          </p:nvSpPr>
          <p:spPr>
            <a:xfrm flipH="1">
              <a:off x="6908099" y="206968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" name="Google Shape;79;p8"/>
            <p:cNvSpPr/>
            <p:nvPr/>
          </p:nvSpPr>
          <p:spPr>
            <a:xfrm rot="-5400000">
              <a:off x="6861141" y="247808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" name="Google Shape;80;p8"/>
            <p:cNvSpPr/>
            <p:nvPr/>
          </p:nvSpPr>
          <p:spPr>
            <a:xfrm flipH="1">
              <a:off x="7965266" y="269319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" name="Google Shape;81;p8"/>
            <p:cNvSpPr/>
            <p:nvPr/>
          </p:nvSpPr>
          <p:spPr>
            <a:xfrm flipH="1">
              <a:off x="8145082" y="330903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" name="Google Shape;82;p8"/>
            <p:cNvSpPr/>
            <p:nvPr/>
          </p:nvSpPr>
          <p:spPr>
            <a:xfrm rot="-5400000">
              <a:off x="7047599" y="309534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" name="Google Shape;83;p8"/>
            <p:cNvSpPr/>
            <p:nvPr/>
          </p:nvSpPr>
          <p:spPr>
            <a:xfrm flipH="1">
              <a:off x="7276649" y="330278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" name="Google Shape;84;p8"/>
            <p:cNvSpPr/>
            <p:nvPr/>
          </p:nvSpPr>
          <p:spPr>
            <a:xfrm rot="-5400000">
              <a:off x="7227414" y="37111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" name="Google Shape;85;p8"/>
            <p:cNvSpPr/>
            <p:nvPr/>
          </p:nvSpPr>
          <p:spPr>
            <a:xfrm flipH="1">
              <a:off x="7462448" y="391862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" name="Google Shape;86;p8"/>
            <p:cNvSpPr/>
            <p:nvPr/>
          </p:nvSpPr>
          <p:spPr>
            <a:xfrm rot="-5400000">
              <a:off x="8102491" y="37188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8"/>
            <p:cNvSpPr/>
            <p:nvPr/>
          </p:nvSpPr>
          <p:spPr>
            <a:xfrm flipH="1">
              <a:off x="8334533" y="392629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" name="Google Shape;88;p8"/>
            <p:cNvSpPr/>
            <p:nvPr/>
          </p:nvSpPr>
          <p:spPr>
            <a:xfrm rot="-5400000">
              <a:off x="8288290" y="433470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9" name="Google Shape;89;p8"/>
          <p:cNvSpPr txBox="1"/>
          <p:nvPr>
            <p:ph type="title"/>
          </p:nvPr>
        </p:nvSpPr>
        <p:spPr>
          <a:xfrm>
            <a:off x="823850" y="866775"/>
            <a:ext cx="4587000" cy="3521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90" name="Google Shape;90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oogle Shape;92;p9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93" name="Google Shape;93;p9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" name="Google Shape;94;p9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5" name="Google Shape;95;p9"/>
          <p:cNvSpPr txBox="1"/>
          <p:nvPr>
            <p:ph type="title"/>
          </p:nvPr>
        </p:nvSpPr>
        <p:spPr>
          <a:xfrm>
            <a:off x="1297500" y="1658325"/>
            <a:ext cx="3036300" cy="175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96" name="Google Shape;96;p9"/>
          <p:cNvSpPr txBox="1"/>
          <p:nvPr>
            <p:ph idx="1" type="subTitle"/>
          </p:nvPr>
        </p:nvSpPr>
        <p:spPr>
          <a:xfrm>
            <a:off x="1297500" y="3538000"/>
            <a:ext cx="30363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  <p:sp>
        <p:nvSpPr>
          <p:cNvPr id="97" name="Google Shape;97;p9"/>
          <p:cNvSpPr txBox="1"/>
          <p:nvPr>
            <p:ph idx="2" type="body"/>
          </p:nvPr>
        </p:nvSpPr>
        <p:spPr>
          <a:xfrm>
            <a:off x="4648200" y="1696600"/>
            <a:ext cx="3676800" cy="234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8" name="Google Shape;98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10"/>
          <p:cNvGrpSpPr/>
          <p:nvPr/>
        </p:nvGrpSpPr>
        <p:grpSpPr>
          <a:xfrm>
            <a:off x="0" y="4128572"/>
            <a:ext cx="698925" cy="684657"/>
            <a:chOff x="0" y="3785672"/>
            <a:chExt cx="698925" cy="684657"/>
          </a:xfrm>
        </p:grpSpPr>
        <p:sp>
          <p:nvSpPr>
            <p:cNvPr id="101" name="Google Shape;101;p10"/>
            <p:cNvSpPr/>
            <p:nvPr/>
          </p:nvSpPr>
          <p:spPr>
            <a:xfrm rot="-5400000">
              <a:off x="0" y="3785672"/>
              <a:ext cx="544800" cy="544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" name="Google Shape;102;p10"/>
            <p:cNvSpPr/>
            <p:nvPr/>
          </p:nvSpPr>
          <p:spPr>
            <a:xfrm flipH="1">
              <a:off x="154125" y="3925529"/>
              <a:ext cx="544800" cy="544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3" name="Google Shape;103;p10"/>
          <p:cNvSpPr txBox="1"/>
          <p:nvPr>
            <p:ph idx="1" type="body"/>
          </p:nvPr>
        </p:nvSpPr>
        <p:spPr>
          <a:xfrm>
            <a:off x="812725" y="4305375"/>
            <a:ext cx="6936000" cy="523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104" name="Google Shape;104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Google Shape;106;p11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107" name="Google Shape;107;p11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" name="Google Shape;108;p11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" name="Google Shape;109;p11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" name="Google Shape;110;p11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" name="Google Shape;111;p11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" name="Google Shape;112;p11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" name="Google Shape;113;p11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" name="Google Shape;114;p11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" name="Google Shape;115;p11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" name="Google Shape;116;p11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" name="Google Shape;117;p11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" name="Google Shape;118;p11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" name="Google Shape;119;p11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" name="Google Shape;120;p11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" name="Google Shape;121;p11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" name="Google Shape;122;p11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" name="Google Shape;123;p11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" name="Google Shape;124;p11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25" name="Google Shape;125;p11"/>
          <p:cNvSpPr txBox="1"/>
          <p:nvPr>
            <p:ph hasCustomPrompt="1" type="title"/>
          </p:nvPr>
        </p:nvSpPr>
        <p:spPr>
          <a:xfrm>
            <a:off x="823850" y="1284675"/>
            <a:ext cx="47760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3pPr>
            <a:lvl4pPr lvl="3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4pPr>
            <a:lvl5pPr lvl="4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5pPr>
            <a:lvl6pPr lvl="5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6pPr>
            <a:lvl7pPr lvl="6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7pPr>
            <a:lvl8pPr lvl="7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8pPr>
            <a:lvl9pPr lvl="8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9pPr>
          </a:lstStyle>
          <a:p>
            <a:r>
              <a:t>xx%</a:t>
            </a:r>
          </a:p>
        </p:txBody>
      </p:sp>
      <p:sp>
        <p:nvSpPr>
          <p:cNvPr id="126" name="Google Shape;126;p11"/>
          <p:cNvSpPr txBox="1"/>
          <p:nvPr>
            <p:ph idx="1" type="body"/>
          </p:nvPr>
        </p:nvSpPr>
        <p:spPr>
          <a:xfrm>
            <a:off x="823850" y="2643124"/>
            <a:ext cx="4776000" cy="121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27" name="Google Shape;12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focus"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  <a:defRPr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comments" Target="../comments/comment1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3"/>
          <p:cNvSpPr txBox="1"/>
          <p:nvPr>
            <p:ph type="ctrTitle"/>
          </p:nvPr>
        </p:nvSpPr>
        <p:spPr>
          <a:xfrm>
            <a:off x="3537150" y="1578400"/>
            <a:ext cx="5017500" cy="15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Prompt Engineering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14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Prompt Engineering</a:t>
            </a:r>
            <a:endParaRPr/>
          </a:p>
        </p:txBody>
      </p:sp>
      <p:sp>
        <p:nvSpPr>
          <p:cNvPr id="140" name="Google Shape;140;p14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Tópicos abordados no capítulo:</a:t>
            </a:r>
            <a:endParaRPr/>
          </a:p>
          <a:p>
            <a:pPr indent="-311150" lvl="0" marL="457200" rtl="0" algn="l">
              <a:spcBef>
                <a:spcPts val="1200"/>
              </a:spcBef>
              <a:spcAft>
                <a:spcPts val="0"/>
              </a:spcAft>
              <a:buSzPts val="1300"/>
              <a:buChar char="-"/>
            </a:pPr>
            <a:r>
              <a:rPr lang="pt-BR"/>
              <a:t>Introdução à engenharia de prompt e contexto.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pt-BR"/>
              <a:t>Melhores práticas de construção para prompts.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pt-BR"/>
              <a:t>Engenharia de prompt defensiva.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5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Introdução a engenharia prompt</a:t>
            </a:r>
            <a:endParaRPr/>
          </a:p>
        </p:txBody>
      </p:sp>
      <p:sp>
        <p:nvSpPr>
          <p:cNvPr id="146" name="Google Shape;146;p15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O que é engenharia de prompt?</a:t>
            </a:r>
            <a:br>
              <a:rPr lang="pt-BR"/>
            </a:br>
            <a:br>
              <a:rPr lang="pt-BR"/>
            </a:br>
            <a:r>
              <a:rPr lang="pt-BR"/>
              <a:t>"O processo de montagem de instruções que permitem a um modelo gerar o resultado esperado."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pt-BR"/>
              <a:t>"... guia o comportamento do modelo sem a necessidade de alterar os pesos do modelo."</a:t>
            </a:r>
            <a:br>
              <a:rPr lang="pt-BR"/>
            </a:br>
            <a:br>
              <a:rPr lang="pt-BR"/>
            </a:br>
            <a:r>
              <a:rPr lang="pt-BR"/>
              <a:t>"... é uma forma de comunicação Humano para IA."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16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Introdução ao prompt</a:t>
            </a:r>
            <a:endParaRPr/>
          </a:p>
        </p:txBody>
      </p:sp>
      <p:sp>
        <p:nvSpPr>
          <p:cNvPr id="152" name="Google Shape;152;p16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pt-BR"/>
              <a:t>O que é um prompt?</a:t>
            </a:r>
            <a:br>
              <a:rPr lang="pt-BR"/>
            </a:br>
            <a:br>
              <a:rPr lang="pt-BR"/>
            </a:br>
            <a:r>
              <a:rPr lang="pt-BR"/>
              <a:t>"Uma instrução dada a um modelo para realizar uma tarefa"</a:t>
            </a:r>
            <a:br>
              <a:rPr lang="pt-BR"/>
            </a:br>
            <a:br>
              <a:rPr lang="pt-BR"/>
            </a:br>
            <a:r>
              <a:rPr lang="pt-BR"/>
              <a:t>Consiste de uma estrutura composta de "descrição da tarefa", "exemplos" e "Tarefa"</a:t>
            </a:r>
            <a:br>
              <a:rPr lang="pt-BR"/>
            </a:br>
            <a:br>
              <a:rPr lang="pt-BR"/>
            </a:br>
            <a:r>
              <a:rPr lang="pt-BR"/>
              <a:t>IMPORTANTE: Prompts apenas funcionam se o modelo ser capaz de seguir instruções.</a:t>
            </a:r>
            <a:br>
              <a:rPr lang="pt-BR"/>
            </a:br>
            <a:br>
              <a:rPr lang="pt-BR"/>
            </a:br>
            <a:r>
              <a:rPr lang="pt-BR"/>
              <a:t>A robustez de um modelo para com prompts é definida pelo nível de perturbação medido ao se realizar algumas alterações no prompt. Ex: trocar "5" por "cinco" ou "Cinco"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7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Estrutura de um prompt</a:t>
            </a:r>
            <a:endParaRPr/>
          </a:p>
        </p:txBody>
      </p:sp>
      <p:sp>
        <p:nvSpPr>
          <p:cNvPr id="158" name="Google Shape;158;p17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pt-BR"/>
              <a:t>Descrição da tarefa:</a:t>
            </a:r>
            <a:br>
              <a:rPr lang="pt-BR"/>
            </a:br>
            <a:r>
              <a:rPr lang="pt-BR"/>
              <a:t>O que o modelo deve fazer, incluindo a Persona do modelo e o formato de saída.</a:t>
            </a:r>
            <a:br>
              <a:rPr lang="pt-BR"/>
            </a:br>
            <a:br>
              <a:rPr lang="pt-BR"/>
            </a:br>
            <a:r>
              <a:rPr lang="pt-BR"/>
              <a:t>Exemplos:</a:t>
            </a:r>
            <a:br>
              <a:rPr lang="pt-BR"/>
            </a:br>
            <a:r>
              <a:rPr lang="pt-BR"/>
              <a:t>Exemplos de entrada e suas respectivas saídas.</a:t>
            </a:r>
            <a:br>
              <a:rPr lang="pt-BR"/>
            </a:br>
            <a:br>
              <a:rPr lang="pt-BR"/>
            </a:br>
            <a:r>
              <a:rPr lang="pt-BR"/>
              <a:t>A tarefa:</a:t>
            </a:r>
            <a:br>
              <a:rPr lang="pt-BR"/>
            </a:br>
            <a:r>
              <a:rPr lang="pt-BR"/>
              <a:t>A tarefa concreta, a pergunta a ser respondida.</a:t>
            </a:r>
            <a:br>
              <a:rPr lang="pt-BR"/>
            </a:b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8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Prompt de sistema e prompt de usuário</a:t>
            </a:r>
            <a:endParaRPr/>
          </a:p>
        </p:txBody>
      </p:sp>
      <p:sp>
        <p:nvSpPr>
          <p:cNvPr id="164" name="Google Shape;164;p18"/>
          <p:cNvSpPr txBox="1"/>
          <p:nvPr>
            <p:ph idx="1" type="body"/>
          </p:nvPr>
        </p:nvSpPr>
        <p:spPr>
          <a:xfrm>
            <a:off x="1297500" y="1567550"/>
            <a:ext cx="7038900" cy="318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Prompt de sistema: Instruções providas por desenvolvedores de aplicação, contém instruções da descrição da tarefa e exemplos.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pt-BR"/>
              <a:t>Prompt de usuário: Instruções providas por usuários, contém as instruções da tarefa.</a:t>
            </a:r>
            <a:br>
              <a:rPr lang="pt-BR"/>
            </a:br>
            <a:br>
              <a:rPr lang="pt-BR"/>
            </a:br>
            <a:r>
              <a:rPr lang="pt-BR"/>
              <a:t>"Muitos provedores de modelo dão ênfase no fato de que prompts de sistema bem construídos melhoram performance… mas como que isso ocorre visto que os prompts de sistema e usuário são concatenados em uma única mensagem?"</a:t>
            </a:r>
            <a:br>
              <a:rPr lang="pt-BR"/>
            </a:br>
            <a:br>
              <a:rPr lang="pt-BR"/>
            </a:br>
            <a:r>
              <a:rPr lang="pt-BR"/>
              <a:t>"Ou modelos são melhores para processar as instruções no início, ou foram pós-treinados para dar mais ênfase ao prompt de sistema"</a:t>
            </a:r>
            <a:br>
              <a:rPr lang="pt-BR"/>
            </a:br>
            <a:br>
              <a:rPr lang="pt-BR"/>
            </a:br>
            <a:r>
              <a:rPr lang="pt-BR"/>
              <a:t>IMPORTANTE: Diferentes modelos possuem templates de chat diferentes, verifique o template correto para o modelo que você está utilizando.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Contexto vs prompt</a:t>
            </a:r>
            <a:endParaRPr/>
          </a:p>
        </p:txBody>
      </p:sp>
      <p:sp>
        <p:nvSpPr>
          <p:cNvPr id="170" name="Google Shape;170;p19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Normalmente, contexto e prompt são sinônimos.</a:t>
            </a:r>
            <a:br>
              <a:rPr lang="pt-BR"/>
            </a:br>
            <a:br>
              <a:rPr lang="pt-BR"/>
            </a:br>
            <a:r>
              <a:rPr lang="pt-BR"/>
              <a:t>Contexto pode ser entendido como toda a entrada do sistema, neste caso, podemos considerar contexto como o prompt.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pt-BR"/>
              <a:t>Contexto também pode ser entendido como informação contextual, nesse sentido o contexto é uma parte do prompt que contém a informação necessária para resolver a tarefa.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20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In-context Learning</a:t>
            </a:r>
            <a:endParaRPr/>
          </a:p>
        </p:txBody>
      </p:sp>
      <p:sp>
        <p:nvSpPr>
          <p:cNvPr id="176" name="Google Shape;176;p20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pt-BR"/>
              <a:t>Ensinar o modelo como realizar uma tarefa através de prompts.</a:t>
            </a:r>
            <a:br>
              <a:rPr lang="pt-BR"/>
            </a:br>
            <a:br>
              <a:rPr lang="pt-BR"/>
            </a:br>
            <a:r>
              <a:rPr lang="pt-BR"/>
              <a:t>"In-context learning permite que o modelo incorpore novas informações continuamente para tomar decisões"</a:t>
            </a:r>
            <a:br>
              <a:rPr lang="pt-BR"/>
            </a:br>
            <a:br>
              <a:rPr lang="pt-BR"/>
            </a:br>
            <a:r>
              <a:rPr lang="pt-BR"/>
              <a:t>Pode ser </a:t>
            </a:r>
            <a:r>
              <a:rPr i="1" lang="pt-BR"/>
              <a:t>Zero-shot </a:t>
            </a:r>
            <a:r>
              <a:rPr lang="pt-BR"/>
              <a:t>ou </a:t>
            </a:r>
            <a:r>
              <a:rPr i="1" lang="pt-BR"/>
              <a:t>Few-shot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1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Tamanho de contexto</a:t>
            </a:r>
            <a:endParaRPr/>
          </a:p>
        </p:txBody>
      </p:sp>
      <p:sp>
        <p:nvSpPr>
          <p:cNvPr id="182" name="Google Shape;182;p21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pt-BR"/>
              <a:t>O tamanho do contexto representa quanta informação pode ser adicionada no prompt.</a:t>
            </a:r>
            <a:br>
              <a:rPr lang="pt-BR"/>
            </a:br>
            <a:br>
              <a:rPr lang="pt-BR"/>
            </a:br>
            <a:r>
              <a:rPr lang="pt-BR"/>
              <a:t>Contexto MAIOR -&gt; maior limite de resposta e maior limite para contexto.</a:t>
            </a:r>
            <a:br>
              <a:rPr lang="pt-BR"/>
            </a:br>
            <a:br>
              <a:rPr lang="pt-BR"/>
            </a:br>
            <a:r>
              <a:rPr lang="pt-BR"/>
              <a:t>O tamanho do contexto aumentou significativamente nos últimos anos.</a:t>
            </a:r>
            <a:br>
              <a:rPr lang="pt-BR"/>
            </a:br>
            <a:br>
              <a:rPr lang="pt-BR"/>
            </a:br>
            <a:r>
              <a:rPr lang="pt-BR"/>
              <a:t>"Pesquisas mostram que modelos são melhores no entendimento de instruções no início e no fim de um prompt"</a:t>
            </a:r>
            <a:br>
              <a:rPr lang="pt-BR"/>
            </a:br>
            <a:br>
              <a:rPr lang="pt-BR"/>
            </a:br>
            <a:r>
              <a:rPr lang="pt-BR"/>
              <a:t>"Se um contexto maior causa perda de performance, tente reduzir o seu prompt"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22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Melhores práticas de prompting</a:t>
            </a:r>
            <a:endParaRPr/>
          </a:p>
        </p:txBody>
      </p:sp>
      <p:sp>
        <p:nvSpPr>
          <p:cNvPr id="188" name="Google Shape;188;p22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pt-BR"/>
              <a:t>Escreva instruções explícitas e </a:t>
            </a:r>
            <a:r>
              <a:rPr lang="pt-BR"/>
              <a:t>concisas</a:t>
            </a:r>
            <a:r>
              <a:rPr lang="pt-BR"/>
              <a:t>.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pt-BR"/>
              <a:t>Inclua contexto suficiente.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pt-BR"/>
              <a:t>Quebre tarefas complexas em subtarefas.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pt-BR"/>
              <a:t>Dê tempo para o modelo pensar (CoT).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pt-BR"/>
              <a:t>Iterar seus prompts.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pt-BR"/>
              <a:t>Avalie seus prompts com ferramentas.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pt-BR"/>
              <a:t>Organize e versione prompts.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pt-BR"/>
              <a:t>As técnicas acima são técnicas gerais que funcionam para vários modelos e vão continuar relevantes.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23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Escreva instruções explícitas e concisas</a:t>
            </a:r>
            <a:endParaRPr/>
          </a:p>
        </p:txBody>
      </p:sp>
      <p:sp>
        <p:nvSpPr>
          <p:cNvPr id="194" name="Google Shape;194;p23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pt-BR"/>
              <a:t>Explique sem ambiguidade o que você quer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pt-BR"/>
              <a:t>Se deseja utilizar um sistema de </a:t>
            </a:r>
            <a:r>
              <a:rPr i="1" lang="pt-BR"/>
              <a:t>Score</a:t>
            </a:r>
            <a:r>
              <a:rPr lang="pt-BR"/>
              <a:t>, explique como o cálculo deve funcionar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pt-BR"/>
              <a:t>Utilize personas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pt-BR"/>
              <a:t>Explique a perspectiva pela qual a IA deve visualizar a tarefa.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pt-BR"/>
              <a:t>Dê exemplos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t-BR"/>
              <a:t>Dicas:</a:t>
            </a:r>
            <a:br>
              <a:rPr lang="pt-BR"/>
            </a:br>
            <a:r>
              <a:rPr lang="pt-BR"/>
              <a:t>Melhore seus prompts conforme percebe comportamentos indesejados.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t-BR"/>
              <a:t>Se desejar uma resposta concisa, diga isso ao modelo.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pt-BR"/>
              <a:t>Para tarefas esperando saídas estruturadas utilize marcadores para delimitar onde a saída se inicia.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24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Inclua contexto suficiente</a:t>
            </a:r>
            <a:endParaRPr/>
          </a:p>
        </p:txBody>
      </p:sp>
      <p:sp>
        <p:nvSpPr>
          <p:cNvPr id="200" name="Google Shape;200;p24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Ter a informação necessária para resolver um problema melhora a performance do modelo e auxilia na redução de </a:t>
            </a:r>
            <a:r>
              <a:rPr lang="pt-BR"/>
              <a:t>alucinações.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t-BR"/>
              <a:t>"Se um modelo deve responder a um artigo, incluir o artigo no contexto pode melhorar consideravelmente a performance, …, caso o modelo não receba o contexto necessário ele pode acabar utilizando apenas o seu conhecimento interno, o que pode causar mais alucinações"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pt-BR"/>
              <a:t>O processo de coleta do contexto necessário é chamado de construção de contexto.</a:t>
            </a:r>
            <a:br>
              <a:rPr lang="pt-BR"/>
            </a:br>
            <a:br>
              <a:rPr lang="pt-BR"/>
            </a:br>
            <a:r>
              <a:rPr lang="pt-BR"/>
              <a:t>Ferramentas para construção de contexto são discutidas no Capítulo 6.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5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Quebre tarefas complexas em subtarefas</a:t>
            </a:r>
            <a:endParaRPr/>
          </a:p>
        </p:txBody>
      </p:sp>
      <p:sp>
        <p:nvSpPr>
          <p:cNvPr id="206" name="Google Shape;206;p25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pt-BR"/>
              <a:t>Separar um grande prompt com várias etapas em vários prompts.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pt-BR"/>
              <a:t>Modelos ainda são melhores em entender instruções simples.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pt-BR"/>
              <a:t>Vantagens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pt-BR"/>
              <a:t>Performance melhor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pt-BR"/>
              <a:t>Monitoração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pt-BR"/>
              <a:t>Debug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pt-BR"/>
              <a:t>Paralelização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pt-BR"/>
              <a:t>Esforço menor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pt-BR"/>
              <a:t>Desvantagens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pt-BR"/>
              <a:t>Latência maior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pt-BR"/>
              <a:t>Complexidade maior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6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Dê tempo para o modelo pensar</a:t>
            </a:r>
            <a:endParaRPr/>
          </a:p>
        </p:txBody>
      </p:sp>
      <p:sp>
        <p:nvSpPr>
          <p:cNvPr id="212" name="Google Shape;212;p26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pt-BR"/>
              <a:t>Chain-of-thought</a:t>
            </a:r>
            <a:r>
              <a:rPr lang="pt-BR"/>
              <a:t>:</a:t>
            </a:r>
            <a:br>
              <a:rPr lang="pt-BR"/>
            </a:br>
            <a:r>
              <a:rPr lang="pt-BR"/>
              <a:t>Exija um pensamento passo a passo ou motivo da decisão, isso faz com que o modelo pense mais profundamente sobre o problema.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i="1" lang="pt-BR"/>
              <a:t>Self-critique</a:t>
            </a:r>
            <a:r>
              <a:rPr lang="pt-BR"/>
              <a:t>:</a:t>
            </a:r>
            <a:br>
              <a:rPr lang="pt-BR"/>
            </a:br>
            <a:r>
              <a:rPr lang="pt-BR"/>
              <a:t>Exija que o modelo valide sua saída, também chamado de </a:t>
            </a:r>
            <a:r>
              <a:rPr i="1" lang="pt-BR"/>
              <a:t>self-eval</a:t>
            </a:r>
            <a:r>
              <a:rPr lang="pt-BR"/>
              <a:t>, faz o modelo pensar criticamente sobre o problema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27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Iterar seus prompts</a:t>
            </a:r>
            <a:endParaRPr/>
          </a:p>
        </p:txBody>
      </p:sp>
      <p:sp>
        <p:nvSpPr>
          <p:cNvPr id="218" name="Google Shape;218;p27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pt-BR"/>
              <a:t>Revise seus prompts conforme avalia os resultados gerados.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pt-BR"/>
              <a:t>Prompts diferentes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pt-BR"/>
              <a:t>Modelos diferentes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pt-BR"/>
              <a:t>Organize diferente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pt-BR"/>
              <a:t>Estabeleça métricas padrões para comparar performance.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pt-BR"/>
              <a:t>"Prompts devem ser avaliados em perspectiva de sistema, um prompt pode melhorar a performance de uma tarefa, mas piorar a performance do sistema."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8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Avalie ferramentas de engenharia de prompt</a:t>
            </a:r>
            <a:endParaRPr/>
          </a:p>
        </p:txBody>
      </p:sp>
      <p:sp>
        <p:nvSpPr>
          <p:cNvPr id="224" name="Google Shape;224;p28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Ferramentas que buscam otimizar prompts, buscam os prompts mais performáticos para realizar uma determinada tarefa a partir da especificação da entrada + saída que melhor se </a:t>
            </a:r>
            <a:r>
              <a:rPr lang="pt-BR"/>
              <a:t>adequa</a:t>
            </a:r>
            <a:r>
              <a:rPr lang="pt-BR"/>
              <a:t> a um determinado dataset de avaliação (Ex: OpenPrompt e DSPy).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t-BR"/>
              <a:t>Outra forma de criar e otimizar prompts é utilizar o próprio modelo, solicitando que ele crie, otimize ou critique seu prompt.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t-BR"/>
              <a:t>Deepmind Promptbreeder: Cria prompts através de um processo evolucionário.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pt-BR"/>
              <a:t>IMPORTANTE: </a:t>
            </a:r>
            <a:br>
              <a:rPr lang="pt-BR"/>
            </a:br>
            <a:r>
              <a:rPr lang="pt-BR"/>
              <a:t>Cuidado com custos utilizando IA para melhorar prompts. </a:t>
            </a:r>
            <a:br>
              <a:rPr lang="pt-BR"/>
            </a:br>
            <a:r>
              <a:rPr lang="pt-BR"/>
              <a:t>Mantenha os prompts simples até que por necessidade eles exijam maior complexidade.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9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Organize e versione prompts</a:t>
            </a:r>
            <a:endParaRPr/>
          </a:p>
        </p:txBody>
      </p:sp>
      <p:sp>
        <p:nvSpPr>
          <p:cNvPr id="230" name="Google Shape;230;p29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pt-BR"/>
              <a:t>Separe prompts do código da aplicação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pt-BR"/>
              <a:t>Reusabilidade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pt-BR"/>
              <a:t>Testabilidade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pt-BR"/>
              <a:t>Colaboração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pt-BR"/>
              <a:t>Versione seus prompts e use metadados para especificar o uso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pt-BR"/>
              <a:t>Utilizar ferramentas como git para controle de versão e catálogo de prompts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30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Engenharia de prompt defensivo</a:t>
            </a:r>
            <a:endParaRPr/>
          </a:p>
        </p:txBody>
      </p:sp>
      <p:sp>
        <p:nvSpPr>
          <p:cNvPr id="236" name="Google Shape;236;p30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Principais ataques de prompt:</a:t>
            </a:r>
            <a:endParaRPr/>
          </a:p>
          <a:p>
            <a:pPr indent="-311150" lvl="0" marL="457200" rtl="0" algn="l">
              <a:spcBef>
                <a:spcPts val="1200"/>
              </a:spcBef>
              <a:spcAft>
                <a:spcPts val="0"/>
              </a:spcAft>
              <a:buSzPts val="1300"/>
              <a:buChar char="-"/>
            </a:pPr>
            <a:r>
              <a:rPr i="1" lang="pt-BR"/>
              <a:t>Prompt Extraction</a:t>
            </a:r>
            <a:endParaRPr i="1"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i="1" lang="pt-BR"/>
              <a:t>Jailbreaking</a:t>
            </a:r>
            <a:endParaRPr i="1"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i="1" lang="pt-BR"/>
              <a:t>Information extraction</a:t>
            </a:r>
            <a:endParaRPr i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t-BR"/>
              <a:t>Riscos de ataques de prompt:</a:t>
            </a:r>
            <a:endParaRPr/>
          </a:p>
          <a:p>
            <a:pPr indent="-311150" lvl="0" marL="457200" rtl="0" algn="l">
              <a:spcBef>
                <a:spcPts val="1200"/>
              </a:spcBef>
              <a:spcAft>
                <a:spcPts val="0"/>
              </a:spcAft>
              <a:buSzPts val="1300"/>
              <a:buChar char="-"/>
            </a:pPr>
            <a:r>
              <a:rPr i="1" lang="pt-BR"/>
              <a:t>Remote code or tool execution</a:t>
            </a:r>
            <a:endParaRPr i="1"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i="1" lang="pt-BR"/>
              <a:t>Data leaks</a:t>
            </a:r>
            <a:endParaRPr i="1"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i="1" lang="pt-BR"/>
              <a:t>Misinformation</a:t>
            </a:r>
            <a:endParaRPr i="1"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i="1" lang="pt-BR"/>
              <a:t>Service interruption</a:t>
            </a:r>
            <a:endParaRPr i="1"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i="1" lang="pt-BR"/>
              <a:t>Brand risk </a:t>
            </a:r>
            <a:endParaRPr i="1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31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Engenharia reversa de prompts</a:t>
            </a:r>
            <a:endParaRPr/>
          </a:p>
        </p:txBody>
      </p:sp>
      <p:sp>
        <p:nvSpPr>
          <p:cNvPr id="242" name="Google Shape;242;p31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A dificuldade para criar um prompt torna este um recurso valioso.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t-BR"/>
              <a:t>Engenharia reversa de prompt é o processo de descobrir o prompt de sistema da aplicação, com o intuito de revender ou manipular de maneira indevida.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pt-BR"/>
              <a:t>Consiste em analisar a saída do modelo ou enganar o modelo para que ele revele seu prompt de sistema.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2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pt-BR"/>
              <a:t>Jailbreaking</a:t>
            </a:r>
            <a:r>
              <a:rPr lang="pt-BR"/>
              <a:t> e </a:t>
            </a:r>
            <a:r>
              <a:rPr i="1" lang="pt-BR"/>
              <a:t>Prompt Injection</a:t>
            </a:r>
            <a:endParaRPr i="1"/>
          </a:p>
        </p:txBody>
      </p:sp>
      <p:sp>
        <p:nvSpPr>
          <p:cNvPr id="248" name="Google Shape;248;p32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"</a:t>
            </a:r>
            <a:r>
              <a:rPr i="1" lang="pt-BR"/>
              <a:t>Jailbreaking </a:t>
            </a:r>
            <a:r>
              <a:rPr lang="pt-BR"/>
              <a:t>consiste em burlar funcionalidades de segurança do modelo."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t-BR"/>
              <a:t>"</a:t>
            </a:r>
            <a:r>
              <a:rPr i="1" lang="pt-BR"/>
              <a:t>Prompt Injection</a:t>
            </a:r>
            <a:r>
              <a:rPr lang="pt-BR"/>
              <a:t> refere-se a um tipo de ataque onde instruções maliciosas são injetadas no prompt"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t-BR"/>
              <a:t>Formas de ataque:</a:t>
            </a:r>
            <a:endParaRPr/>
          </a:p>
          <a:p>
            <a:pPr indent="-311150" lvl="0" marL="457200" rtl="0" algn="l">
              <a:spcBef>
                <a:spcPts val="1200"/>
              </a:spcBef>
              <a:spcAft>
                <a:spcPts val="0"/>
              </a:spcAft>
              <a:buSzPts val="1300"/>
              <a:buChar char="-"/>
            </a:pPr>
            <a:r>
              <a:rPr i="1" lang="pt-BR"/>
              <a:t>Direct manual prompt hacking</a:t>
            </a:r>
            <a:endParaRPr i="1"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i="1" lang="pt-BR"/>
              <a:t>Automated attacks</a:t>
            </a:r>
            <a:endParaRPr i="1"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i="1" lang="pt-BR"/>
              <a:t>Indirect prompt injection</a:t>
            </a:r>
            <a:endParaRPr i="1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33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Information Extraction</a:t>
            </a:r>
            <a:endParaRPr/>
          </a:p>
        </p:txBody>
      </p:sp>
      <p:sp>
        <p:nvSpPr>
          <p:cNvPr id="254" name="Google Shape;254;p33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pt-BR"/>
              <a:t>Information Extraction</a:t>
            </a:r>
            <a:r>
              <a:rPr lang="pt-BR"/>
              <a:t> busca descobrir as informações que o modelo foi treinado ou o seu acesso à informação, exemplos de extração:</a:t>
            </a:r>
            <a:endParaRPr/>
          </a:p>
          <a:p>
            <a:pPr indent="-311150" lvl="0" marL="457200" rtl="0" algn="l">
              <a:spcBef>
                <a:spcPts val="1200"/>
              </a:spcBef>
              <a:spcAft>
                <a:spcPts val="0"/>
              </a:spcAft>
              <a:buSzPts val="1300"/>
              <a:buChar char="-"/>
            </a:pPr>
            <a:r>
              <a:rPr i="1" lang="pt-BR"/>
              <a:t>Data leak</a:t>
            </a:r>
            <a:endParaRPr i="1"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i="1" lang="pt-BR"/>
              <a:t>Privacy violation</a:t>
            </a:r>
            <a:endParaRPr i="1"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i="1" lang="pt-BR"/>
              <a:t>Copyright infringement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t-BR"/>
              <a:t>O modelo "</a:t>
            </a:r>
            <a:r>
              <a:rPr i="1" lang="pt-BR"/>
              <a:t>memoriza"</a:t>
            </a:r>
            <a:r>
              <a:rPr lang="pt-BR"/>
              <a:t> algumas informações.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pt-BR"/>
              <a:t>"As mesmas técnicas utilizadas para avaliar o conhecimento de um modelo podem ser utilizadas para extrair informações sensíveis"</a:t>
            </a:r>
            <a:br>
              <a:rPr lang="pt-BR"/>
            </a:b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34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Defesas contra ataques de prompts</a:t>
            </a:r>
            <a:endParaRPr/>
          </a:p>
        </p:txBody>
      </p:sp>
      <p:sp>
        <p:nvSpPr>
          <p:cNvPr id="260" name="Google Shape;260;p34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pt-BR"/>
              <a:t>Comece entendendo os tipos de ataque que sua aplicação pode receber.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pt-BR"/>
              <a:t>Avaliar com base em </a:t>
            </a:r>
            <a:r>
              <a:rPr i="1" lang="pt-BR"/>
              <a:t>violation rate </a:t>
            </a:r>
            <a:r>
              <a:rPr lang="pt-BR"/>
              <a:t>e </a:t>
            </a:r>
            <a:r>
              <a:rPr i="1" lang="pt-BR"/>
              <a:t>false refusal rate</a:t>
            </a:r>
            <a:r>
              <a:rPr lang="pt-BR"/>
              <a:t>.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i="1" lang="pt-BR"/>
              <a:t>Model-level defense.</a:t>
            </a:r>
            <a:endParaRPr i="1"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i="1" lang="pt-BR"/>
              <a:t>Prompt-level defense.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pt-BR"/>
              <a:t>Duplicação.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pt-BR"/>
              <a:t>Ignorar modos de ataque conhecidos.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i="1" lang="pt-BR"/>
              <a:t>System-level defense.</a:t>
            </a:r>
            <a:endParaRPr i="1"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pt-BR"/>
              <a:t>Utilizar contexto isolado.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pt-BR"/>
              <a:t>Exigir autorização para comandos de alto impacto.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pt-BR"/>
              <a:t>Definir Assuntos fora de tópico.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pt-BR"/>
              <a:t>Utilizar IA para avaliação de intenção.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i="1" lang="pt-BR"/>
              <a:t>Guardrails</a:t>
            </a:r>
            <a:r>
              <a:rPr lang="pt-BR"/>
              <a:t> na entrada e na saída.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Focus">
  <a:themeElements>
    <a:clrScheme name="Focus">
      <a:dk1>
        <a:srgbClr val="1B212C"/>
      </a:dk1>
      <a:lt1>
        <a:srgbClr val="FFFFFF"/>
      </a:lt1>
      <a:dk2>
        <a:srgbClr val="D9D9D9"/>
      </a:dk2>
      <a:lt2>
        <a:srgbClr val="82C7A5"/>
      </a:lt2>
      <a:accent1>
        <a:srgbClr val="0145AC"/>
      </a:accent1>
      <a:accent2>
        <a:srgbClr val="EECE1A"/>
      </a:accent2>
      <a:accent3>
        <a:srgbClr val="4E5567"/>
      </a:accent3>
      <a:accent4>
        <a:srgbClr val="F4D6AD"/>
      </a:accent4>
      <a:accent5>
        <a:srgbClr val="7890CD"/>
      </a:accent5>
      <a:accent6>
        <a:srgbClr val="F15E22"/>
      </a:accent6>
      <a:hlink>
        <a:srgbClr val="7890CD"/>
      </a:hlink>
      <a:folHlink>
        <a:srgbClr val="7890C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